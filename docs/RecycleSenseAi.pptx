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9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C64F-1B89-D74B-61EC-AAC6868F3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0988AA-37EA-BECB-5F14-3CEBC44107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E0FE7-CB06-9D18-2D33-EE2AF1D36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5E857-279A-4968-BE23-8C0B4F94E412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39BBE-E390-C351-2A46-0B7FD00CB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E3E35-DE37-2FD4-E1D1-A14B4821D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4FCA9-D43D-4F93-8EDE-8CFDE2C0CA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733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9DC80-02C6-0E1C-2409-1BB7A569E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A7374-07E6-E0A2-9486-B0C87BB1E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915D0-FE00-6866-B9CE-E0BC065E2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5E857-279A-4968-BE23-8C0B4F94E412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22F5D-89C7-28B6-BA7C-38C2E67A6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B0846-3DC2-39E6-B2E3-A45A99302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4FCA9-D43D-4F93-8EDE-8CFDE2C0CA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65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B9E60-7C83-5E73-0365-B2746F152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E27AD-7953-991A-E7B5-ECD17CFBE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AC5F4-A7C6-1D95-4502-EF0903BCA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5E857-279A-4968-BE23-8C0B4F94E412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A0D8-CB08-E5BD-8B3C-BF024F138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7F29E-BC5A-F7F5-8991-699252915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4FCA9-D43D-4F93-8EDE-8CFDE2C0CA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987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B0D0-5C73-1DB6-A3F5-646F3F1A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F2F68-78B6-1813-DC80-F3BF7C691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8A78E-43DD-81FE-4245-13E1CE342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749B9-12BA-40C0-0FEC-2C6A67639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5E857-279A-4968-BE23-8C0B4F94E412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1BF546-BA7F-A361-1567-A7ECEA9F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CF677-C769-139B-C9DE-989CECD34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4FCA9-D43D-4F93-8EDE-8CFDE2C0CA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061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6A102-439C-4D33-0F50-98F719EA6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13EC8-C38C-598A-955C-B3D03E1F8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C55FB-EBEF-42AD-01F5-271D42BE4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E5F1B6-7FF8-D2B8-48C2-C6BE261994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A6511C-4A58-1CBA-9ABD-A5D4334763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D8DD8D-CE49-6744-2803-59CF50353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5E857-279A-4968-BE23-8C0B4F94E412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888285-D5A4-05C7-62AE-4E320F779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733495-D96C-1B76-2AB8-A2D14989E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4FCA9-D43D-4F93-8EDE-8CFDE2C0CA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467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96D19-0AAF-5CB9-C918-F5D1E2E24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EF23C8-CF5F-7FDA-B5CC-F314682D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5E857-279A-4968-BE23-8C0B4F94E412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3E84A-598A-1BF9-AB8B-EAF432653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04398A-EAD7-60D1-FE46-EA9940DE5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4FCA9-D43D-4F93-8EDE-8CFDE2C0CA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505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0C5FCB-633B-3BF0-C8C7-83C14C273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5E857-279A-4968-BE23-8C0B4F94E412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4A358C-3E72-1AA9-1654-EDE57E44B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3A6BC-C4F3-0D04-610F-014E1FDBF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4FCA9-D43D-4F93-8EDE-8CFDE2C0CA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621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6FDE3-FBA2-F345-E32D-FE85AD616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10428-C39C-9514-6F57-AA4EA230F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C14AFF-D24F-2DAA-C777-ED30DB16C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F4DF5-4094-9FAA-8C64-18AFC48A5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5E857-279A-4968-BE23-8C0B4F94E412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0F579E-7EF5-0B49-E3BF-5376FC923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F451B-7A21-9C91-3C31-3D44441DC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4FCA9-D43D-4F93-8EDE-8CFDE2C0CA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526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C137B-F912-1BF4-0454-E1DFB0C58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A8DF26-E759-B756-331B-0FCE35F2F4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7B8F3-A107-223B-0E5C-E77169BE7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4113F3-071B-8F63-50E7-7BDC381DD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5E857-279A-4968-BE23-8C0B4F94E412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C6E990-848C-C4C3-3335-54448B231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95E94-B442-F1FE-AE78-107A832B5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4FCA9-D43D-4F93-8EDE-8CFDE2C0CA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753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A22EA-A7EE-FBE4-B933-5412FE499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FD798F-CB96-D7D3-C247-F42807C1B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DEB6C-A034-7E74-C59A-C71383D3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5E857-279A-4968-BE23-8C0B4F94E412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78A5B-6B3A-2A8B-7319-35F68C801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1137D-5CDB-8E33-841E-9EA10C79A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4FCA9-D43D-4F93-8EDE-8CFDE2C0CA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1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FB4468-4C19-3781-893A-13782BC86E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25AEC3-5FE3-C26C-BB02-EF66FD3A31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F1172-7BB3-3B87-7589-83C316FCA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5E857-279A-4968-BE23-8C0B4F94E412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669E4-D437-3DBB-3F80-03E97E826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37401-73FC-9964-6C73-642A3D4C3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4FCA9-D43D-4F93-8EDE-8CFDE2C0CA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7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71A747-B4FB-65B6-28AA-B548FDA3D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C7864-69E5-72D4-1543-24A18D15F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9AF7E-8883-E846-563B-69C3072B80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65E857-279A-4968-BE23-8C0B4F94E412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E635C-60CA-13B4-703F-A12C412C4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511F8-698D-A5A2-46FA-CA90A059A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24FCA9-D43D-4F93-8EDE-8CFDE2C0CA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91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31A9EBB-8752-8A61-EEBF-AC14D6A77C18}"/>
              </a:ext>
            </a:extLst>
          </p:cNvPr>
          <p:cNvSpPr txBox="1"/>
          <p:nvPr/>
        </p:nvSpPr>
        <p:spPr>
          <a:xfrm>
            <a:off x="3249561" y="384407"/>
            <a:ext cx="56928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RecycleSense AI </a:t>
            </a:r>
            <a:r>
              <a:rPr lang="en-IN" sz="3200" dirty="0"/>
              <a:t>♻️</a:t>
            </a:r>
            <a:endParaRPr lang="en-IN" sz="3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3283C9-6929-DEDD-B575-43F44F3BED91}"/>
              </a:ext>
            </a:extLst>
          </p:cNvPr>
          <p:cNvSpPr txBox="1"/>
          <p:nvPr/>
        </p:nvSpPr>
        <p:spPr>
          <a:xfrm>
            <a:off x="1607575" y="1206281"/>
            <a:ext cx="9527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Intelligent Recycling Assistant Using Artificial Intelligence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C12E70-D754-55BA-CD64-07FA5FA1156A}"/>
              </a:ext>
            </a:extLst>
          </p:cNvPr>
          <p:cNvSpPr txBox="1"/>
          <p:nvPr/>
        </p:nvSpPr>
        <p:spPr>
          <a:xfrm>
            <a:off x="1101213" y="1778174"/>
            <a:ext cx="104025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Internship Project - </a:t>
            </a:r>
            <a:r>
              <a:rPr lang="en-IN" dirty="0"/>
              <a:t> </a:t>
            </a:r>
            <a:r>
              <a:rPr lang="en-IN" sz="2800" dirty="0"/>
              <a:t>1M1B AI for Sustainability Virtual Internship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7475EA-BD02-8691-2A82-D7203A62B1D2}"/>
              </a:ext>
            </a:extLst>
          </p:cNvPr>
          <p:cNvSpPr txBox="1"/>
          <p:nvPr/>
        </p:nvSpPr>
        <p:spPr>
          <a:xfrm>
            <a:off x="737419" y="2800102"/>
            <a:ext cx="709889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Prepared By:</a:t>
            </a:r>
            <a:br>
              <a:rPr lang="en-IN" sz="2400" dirty="0"/>
            </a:br>
            <a:r>
              <a:rPr lang="en-IN" sz="2400" dirty="0"/>
              <a:t>Jeeva A</a:t>
            </a:r>
          </a:p>
          <a:p>
            <a:pPr>
              <a:buNone/>
            </a:pPr>
            <a:r>
              <a:rPr lang="en-IN" sz="2400" dirty="0"/>
              <a:t>B.E. Computer Science and Engineering </a:t>
            </a:r>
          </a:p>
          <a:p>
            <a:pPr>
              <a:buNone/>
            </a:pPr>
            <a:r>
              <a:rPr lang="en-IN" sz="2400" dirty="0"/>
              <a:t>Easwari Engineering College</a:t>
            </a:r>
          </a:p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400" dirty="0"/>
              <a:t>Technology Stack:</a:t>
            </a:r>
            <a:br>
              <a:rPr lang="en-IN" sz="2400" dirty="0"/>
            </a:br>
            <a:r>
              <a:rPr lang="en-IN" sz="2400" dirty="0"/>
              <a:t>Python, Streamlit, TensorFlow, MobileNetV2, Pandas</a:t>
            </a:r>
          </a:p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400" dirty="0"/>
              <a:t>Sustainable Development Goals:</a:t>
            </a:r>
            <a:br>
              <a:rPr lang="en-IN" sz="2400" dirty="0"/>
            </a:br>
            <a:r>
              <a:rPr lang="en-IN" sz="2400" dirty="0"/>
              <a:t>SDG 11 • SDG 12 • SDG 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8BD9C8-57C3-C0CE-C305-9B9D1F344051}"/>
              </a:ext>
            </a:extLst>
          </p:cNvPr>
          <p:cNvSpPr txBox="1"/>
          <p:nvPr/>
        </p:nvSpPr>
        <p:spPr>
          <a:xfrm>
            <a:off x="10658167" y="6216422"/>
            <a:ext cx="1391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469375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E06567-070D-83A2-C2B9-F49F71B28DB4}"/>
              </a:ext>
            </a:extLst>
          </p:cNvPr>
          <p:cNvSpPr txBox="1"/>
          <p:nvPr/>
        </p:nvSpPr>
        <p:spPr>
          <a:xfrm>
            <a:off x="3898490" y="247954"/>
            <a:ext cx="3785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PROBLEM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9FF910-DD6D-5631-E466-9BD605F27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06" y="1147079"/>
            <a:ext cx="4218572" cy="2805488"/>
          </a:xfrm>
          <a:prstGeom prst="rect">
            <a:avLst/>
          </a:prstGeom>
        </p:spPr>
      </p:pic>
      <p:pic>
        <p:nvPicPr>
          <p:cNvPr id="7" name="Picture 6" descr="Mixed waste - Orwakbalers">
            <a:extLst>
              <a:ext uri="{FF2B5EF4-FFF2-40B4-BE49-F238E27FC236}">
                <a16:creationId xmlns:a16="http://schemas.microsoft.com/office/drawing/2014/main" id="{F3470722-29FC-07E1-712E-162B09783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07" y="4189325"/>
            <a:ext cx="4218572" cy="23221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09363B-FBF2-6169-6454-7B6A6787B105}"/>
              </a:ext>
            </a:extLst>
          </p:cNvPr>
          <p:cNvSpPr txBox="1"/>
          <p:nvPr/>
        </p:nvSpPr>
        <p:spPr>
          <a:xfrm>
            <a:off x="5043948" y="1147079"/>
            <a:ext cx="690224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Current waste segregation methods are inefficient and heavily dependent on manual effort.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Many recyclable materials are disposed of incorrectly due to a lack of awareness and proper guidance.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Manual waste classification is time-consuming, inconsistent, and difficult to scale.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Improper disposal of plastic, organic, and electronic waste contributes to environmental pollution and resource loss.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There is a growing need for an intelligent system that can automatically identify waste and provide accurate recycling recommendations.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25856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953596-CAC5-6405-73CB-9E2CEB43450A}"/>
              </a:ext>
            </a:extLst>
          </p:cNvPr>
          <p:cNvSpPr txBox="1"/>
          <p:nvPr/>
        </p:nvSpPr>
        <p:spPr>
          <a:xfrm>
            <a:off x="1988574" y="188959"/>
            <a:ext cx="8214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/>
              <a:t>PROPOSED SOLUTION – RECYCLESENSE AI</a:t>
            </a:r>
            <a:endParaRPr lang="en-I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60FCF8-7521-94E0-510F-C49DE4F31877}"/>
              </a:ext>
            </a:extLst>
          </p:cNvPr>
          <p:cNvSpPr txBox="1"/>
          <p:nvPr/>
        </p:nvSpPr>
        <p:spPr>
          <a:xfrm>
            <a:off x="580104" y="1309495"/>
            <a:ext cx="319548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/>
              <a:t>User Uploads Waste Image</a:t>
            </a:r>
          </a:p>
          <a:p>
            <a:r>
              <a:rPr lang="en-IN" sz="2000" b="1"/>
              <a:t>            ↓</a:t>
            </a:r>
          </a:p>
          <a:p>
            <a:r>
              <a:rPr lang="en-IN" sz="2000" b="1"/>
              <a:t>AI Object Detection</a:t>
            </a:r>
          </a:p>
          <a:p>
            <a:r>
              <a:rPr lang="en-IN" sz="2000" b="1"/>
              <a:t>(MobileNetV2)</a:t>
            </a:r>
          </a:p>
          <a:p>
            <a:r>
              <a:rPr lang="en-IN" sz="2000" b="1"/>
              <a:t>            ↓</a:t>
            </a:r>
          </a:p>
          <a:p>
            <a:r>
              <a:rPr lang="en-IN" sz="2000" b="1"/>
              <a:t>Waste Category Mapping</a:t>
            </a:r>
          </a:p>
          <a:p>
            <a:r>
              <a:rPr lang="en-IN" sz="2000" b="1"/>
              <a:t>            ↓</a:t>
            </a:r>
          </a:p>
          <a:p>
            <a:r>
              <a:rPr lang="en-IN" sz="2000" b="1"/>
              <a:t>Environmental Impact Analysis</a:t>
            </a:r>
          </a:p>
          <a:p>
            <a:r>
              <a:rPr lang="en-IN" sz="2000" b="1"/>
              <a:t>            ↓</a:t>
            </a:r>
          </a:p>
          <a:p>
            <a:r>
              <a:rPr lang="en-IN" sz="2000" b="1"/>
              <a:t>Recycling Guidance</a:t>
            </a:r>
          </a:p>
          <a:p>
            <a:r>
              <a:rPr lang="en-IN" sz="2000" b="1"/>
              <a:t>            ↓</a:t>
            </a:r>
          </a:p>
          <a:p>
            <a:r>
              <a:rPr lang="en-IN" sz="2000" b="1"/>
              <a:t>Analytics Dashboard &amp;</a:t>
            </a:r>
          </a:p>
          <a:p>
            <a:r>
              <a:rPr lang="en-IN" sz="2000" b="1"/>
              <a:t>Sustainability Report</a:t>
            </a:r>
            <a:endParaRPr lang="en-IN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93ABA7-8DEA-1788-E0A9-E8FFAFA19CDE}"/>
              </a:ext>
            </a:extLst>
          </p:cNvPr>
          <p:cNvSpPr txBox="1"/>
          <p:nvPr/>
        </p:nvSpPr>
        <p:spPr>
          <a:xfrm>
            <a:off x="4277032" y="1278194"/>
            <a:ext cx="759050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/>
              <a:t>RecycleSense AI is an intelligent waste management platform that uses Artificial Intelligence to identify waste materials from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/>
              <a:t>The system automatically classifies waste into categories such as Plastic, Organic, and E-Waste.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/>
              <a:t>Users receive disposal recommendations, recycling tips, environmental impact information, and sustainability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/>
              <a:t>The platform also maintains historical records and generates sustainability reports for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33911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2C98-A0C0-1C06-A143-36642A320AC1}"/>
              </a:ext>
            </a:extLst>
          </p:cNvPr>
          <p:cNvSpPr txBox="1"/>
          <p:nvPr/>
        </p:nvSpPr>
        <p:spPr>
          <a:xfrm>
            <a:off x="828675" y="494414"/>
            <a:ext cx="10534650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TECHNOLOGY STACK</a:t>
            </a:r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23B7DAD-01D7-9EEC-BC55-6559A45563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706959"/>
              </p:ext>
            </p:extLst>
          </p:nvPr>
        </p:nvGraphicFramePr>
        <p:xfrm>
          <a:off x="859781" y="2354239"/>
          <a:ext cx="10472439" cy="39480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37452">
                  <a:extLst>
                    <a:ext uri="{9D8B030D-6E8A-4147-A177-3AD203B41FA5}">
                      <a16:colId xmlns:a16="http://schemas.microsoft.com/office/drawing/2014/main" val="1752564254"/>
                    </a:ext>
                  </a:extLst>
                </a:gridCol>
                <a:gridCol w="4734987">
                  <a:extLst>
                    <a:ext uri="{9D8B030D-6E8A-4147-A177-3AD203B41FA5}">
                      <a16:colId xmlns:a16="http://schemas.microsoft.com/office/drawing/2014/main" val="369127935"/>
                    </a:ext>
                  </a:extLst>
                </a:gridCol>
              </a:tblGrid>
              <a:tr h="438677"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Component</a:t>
                      </a:r>
                    </a:p>
                  </a:txBody>
                  <a:tcPr marL="99699" marR="99699" marT="49850" marB="498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Technology Used</a:t>
                      </a:r>
                    </a:p>
                  </a:txBody>
                  <a:tcPr marL="99699" marR="99699" marT="49850" marB="49850"/>
                </a:tc>
                <a:extLst>
                  <a:ext uri="{0D108BD9-81ED-4DB2-BD59-A6C34878D82A}">
                    <a16:rowId xmlns:a16="http://schemas.microsoft.com/office/drawing/2014/main" val="610532516"/>
                  </a:ext>
                </a:extLst>
              </a:tr>
              <a:tr h="438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Programming Language</a:t>
                      </a:r>
                    </a:p>
                  </a:txBody>
                  <a:tcPr marL="99699" marR="99699" marT="49850" marB="498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Python</a:t>
                      </a:r>
                    </a:p>
                  </a:txBody>
                  <a:tcPr marL="99699" marR="99699" marT="49850" marB="49850" anchor="ctr"/>
                </a:tc>
                <a:extLst>
                  <a:ext uri="{0D108BD9-81ED-4DB2-BD59-A6C34878D82A}">
                    <a16:rowId xmlns:a16="http://schemas.microsoft.com/office/drawing/2014/main" val="2279536748"/>
                  </a:ext>
                </a:extLst>
              </a:tr>
              <a:tr h="438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Frontend</a:t>
                      </a:r>
                    </a:p>
                  </a:txBody>
                  <a:tcPr marL="99699" marR="99699" marT="49850" marB="498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Streamlit</a:t>
                      </a:r>
                    </a:p>
                  </a:txBody>
                  <a:tcPr marL="99699" marR="99699" marT="49850" marB="49850" anchor="ctr"/>
                </a:tc>
                <a:extLst>
                  <a:ext uri="{0D108BD9-81ED-4DB2-BD59-A6C34878D82A}">
                    <a16:rowId xmlns:a16="http://schemas.microsoft.com/office/drawing/2014/main" val="284694873"/>
                  </a:ext>
                </a:extLst>
              </a:tr>
              <a:tr h="438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AI Model</a:t>
                      </a:r>
                    </a:p>
                  </a:txBody>
                  <a:tcPr marL="99699" marR="99699" marT="49850" marB="498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MobileNetV2</a:t>
                      </a:r>
                    </a:p>
                  </a:txBody>
                  <a:tcPr marL="99699" marR="99699" marT="49850" marB="49850" anchor="ctr"/>
                </a:tc>
                <a:extLst>
                  <a:ext uri="{0D108BD9-81ED-4DB2-BD59-A6C34878D82A}">
                    <a16:rowId xmlns:a16="http://schemas.microsoft.com/office/drawing/2014/main" val="3383107885"/>
                  </a:ext>
                </a:extLst>
              </a:tr>
              <a:tr h="438677">
                <a:tc>
                  <a:txBody>
                    <a:bodyPr/>
                    <a:lstStyle/>
                    <a:p>
                      <a:r>
                        <a:rPr lang="en-IN" sz="2000"/>
                        <a:t>Machine Learning Library</a:t>
                      </a:r>
                    </a:p>
                  </a:txBody>
                  <a:tcPr marL="99699" marR="99699" marT="49850" marB="49850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TensorFlow</a:t>
                      </a:r>
                    </a:p>
                  </a:txBody>
                  <a:tcPr marL="99699" marR="99699" marT="49850" marB="49850"/>
                </a:tc>
                <a:extLst>
                  <a:ext uri="{0D108BD9-81ED-4DB2-BD59-A6C34878D82A}">
                    <a16:rowId xmlns:a16="http://schemas.microsoft.com/office/drawing/2014/main" val="1850827826"/>
                  </a:ext>
                </a:extLst>
              </a:tr>
              <a:tr h="438677">
                <a:tc>
                  <a:txBody>
                    <a:bodyPr/>
                    <a:lstStyle/>
                    <a:p>
                      <a:r>
                        <a:rPr lang="en-IN" sz="2000"/>
                        <a:t>Data Processing</a:t>
                      </a:r>
                    </a:p>
                  </a:txBody>
                  <a:tcPr marL="99699" marR="99699" marT="49850" marB="49850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Pandas</a:t>
                      </a:r>
                    </a:p>
                  </a:txBody>
                  <a:tcPr marL="99699" marR="99699" marT="49850" marB="49850"/>
                </a:tc>
                <a:extLst>
                  <a:ext uri="{0D108BD9-81ED-4DB2-BD59-A6C34878D82A}">
                    <a16:rowId xmlns:a16="http://schemas.microsoft.com/office/drawing/2014/main" val="1811089844"/>
                  </a:ext>
                </a:extLst>
              </a:tr>
              <a:tr h="438677">
                <a:tc>
                  <a:txBody>
                    <a:bodyPr/>
                    <a:lstStyle/>
                    <a:p>
                      <a:r>
                        <a:rPr lang="en-IN" sz="2000"/>
                        <a:t>Visualization</a:t>
                      </a:r>
                    </a:p>
                  </a:txBody>
                  <a:tcPr marL="99699" marR="99699" marT="49850" marB="49850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Matplotlib</a:t>
                      </a:r>
                    </a:p>
                  </a:txBody>
                  <a:tcPr marL="99699" marR="99699" marT="49850" marB="49850"/>
                </a:tc>
                <a:extLst>
                  <a:ext uri="{0D108BD9-81ED-4DB2-BD59-A6C34878D82A}">
                    <a16:rowId xmlns:a16="http://schemas.microsoft.com/office/drawing/2014/main" val="1379650603"/>
                  </a:ext>
                </a:extLst>
              </a:tr>
              <a:tr h="438677">
                <a:tc>
                  <a:txBody>
                    <a:bodyPr/>
                    <a:lstStyle/>
                    <a:p>
                      <a:r>
                        <a:rPr lang="en-IN" sz="2000"/>
                        <a:t>Data Storage</a:t>
                      </a:r>
                    </a:p>
                  </a:txBody>
                  <a:tcPr marL="99699" marR="99699" marT="49850" marB="49850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CSV</a:t>
                      </a:r>
                    </a:p>
                  </a:txBody>
                  <a:tcPr marL="99699" marR="99699" marT="49850" marB="49850"/>
                </a:tc>
                <a:extLst>
                  <a:ext uri="{0D108BD9-81ED-4DB2-BD59-A6C34878D82A}">
                    <a16:rowId xmlns:a16="http://schemas.microsoft.com/office/drawing/2014/main" val="4226004609"/>
                  </a:ext>
                </a:extLst>
              </a:tr>
              <a:tr h="438677">
                <a:tc>
                  <a:txBody>
                    <a:bodyPr/>
                    <a:lstStyle/>
                    <a:p>
                      <a:r>
                        <a:rPr lang="en-IN" sz="2000"/>
                        <a:t>Version Control</a:t>
                      </a:r>
                    </a:p>
                  </a:txBody>
                  <a:tcPr marL="99699" marR="99699" marT="49850" marB="49850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Git &amp; GitHub</a:t>
                      </a:r>
                    </a:p>
                  </a:txBody>
                  <a:tcPr marL="99699" marR="99699" marT="49850" marB="49850"/>
                </a:tc>
                <a:extLst>
                  <a:ext uri="{0D108BD9-81ED-4DB2-BD59-A6C34878D82A}">
                    <a16:rowId xmlns:a16="http://schemas.microsoft.com/office/drawing/2014/main" val="2180875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539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0C739E-BA1D-B9AD-76B4-771D6C30C301}"/>
              </a:ext>
            </a:extLst>
          </p:cNvPr>
          <p:cNvSpPr txBox="1"/>
          <p:nvPr/>
        </p:nvSpPr>
        <p:spPr>
          <a:xfrm>
            <a:off x="4291780" y="198791"/>
            <a:ext cx="36084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/>
              <a:t>SYSTEM 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A89253-A600-42A0-6EE7-29E6C3788712}"/>
              </a:ext>
            </a:extLst>
          </p:cNvPr>
          <p:cNvSpPr txBox="1"/>
          <p:nvPr/>
        </p:nvSpPr>
        <p:spPr>
          <a:xfrm>
            <a:off x="3048000" y="1030801"/>
            <a:ext cx="60960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/>
              <a:t>User Uploads Image</a:t>
            </a:r>
          </a:p>
          <a:p>
            <a:pPr algn="ctr"/>
            <a:r>
              <a:rPr lang="en-IN" sz="2000" b="1" dirty="0"/>
              <a:t>        ↓</a:t>
            </a:r>
          </a:p>
          <a:p>
            <a:pPr algn="ctr"/>
            <a:r>
              <a:rPr lang="en-IN" sz="2000" b="1" dirty="0"/>
              <a:t>Image Preprocessing</a:t>
            </a:r>
          </a:p>
          <a:p>
            <a:pPr algn="ctr"/>
            <a:r>
              <a:rPr lang="en-IN" sz="2000" b="1" dirty="0"/>
              <a:t>        ↓</a:t>
            </a:r>
          </a:p>
          <a:p>
            <a:pPr algn="ctr"/>
            <a:r>
              <a:rPr lang="en-IN" sz="2000" b="1" dirty="0"/>
              <a:t>MobileNetV2 AI Model</a:t>
            </a:r>
          </a:p>
          <a:p>
            <a:pPr algn="ctr"/>
            <a:r>
              <a:rPr lang="en-IN" sz="2000" b="1" dirty="0"/>
              <a:t>        ↓</a:t>
            </a:r>
          </a:p>
          <a:p>
            <a:pPr algn="ctr"/>
            <a:r>
              <a:rPr lang="en-IN" sz="2000" b="1" dirty="0"/>
              <a:t>Waste Object Detection</a:t>
            </a:r>
          </a:p>
          <a:p>
            <a:pPr algn="ctr"/>
            <a:r>
              <a:rPr lang="en-IN" sz="2000" b="1" dirty="0"/>
              <a:t>        ↓</a:t>
            </a:r>
          </a:p>
          <a:p>
            <a:pPr algn="ctr"/>
            <a:r>
              <a:rPr lang="en-IN" sz="2000" b="1" dirty="0"/>
              <a:t>Waste Category Mapping</a:t>
            </a:r>
          </a:p>
          <a:p>
            <a:pPr algn="ctr"/>
            <a:r>
              <a:rPr lang="en-IN" sz="2000" b="1" dirty="0"/>
              <a:t>        ↓</a:t>
            </a:r>
          </a:p>
          <a:p>
            <a:pPr algn="ctr"/>
            <a:r>
              <a:rPr lang="en-IN" sz="2000" b="1" dirty="0"/>
              <a:t>Environmental Impact Analysis</a:t>
            </a:r>
          </a:p>
          <a:p>
            <a:pPr algn="ctr"/>
            <a:r>
              <a:rPr lang="en-IN" sz="2000" b="1" dirty="0"/>
              <a:t>        ↓</a:t>
            </a:r>
          </a:p>
          <a:p>
            <a:pPr algn="ctr"/>
            <a:r>
              <a:rPr lang="en-IN" sz="2000" b="1" dirty="0"/>
              <a:t>Recycling Recommendation</a:t>
            </a:r>
          </a:p>
          <a:p>
            <a:pPr algn="ctr"/>
            <a:r>
              <a:rPr lang="en-IN" sz="2000" b="1" dirty="0"/>
              <a:t>        ↓</a:t>
            </a:r>
          </a:p>
          <a:p>
            <a:pPr algn="ctr"/>
            <a:r>
              <a:rPr lang="en-IN" sz="2000" b="1" dirty="0"/>
              <a:t>Analytics Dashboard</a:t>
            </a:r>
          </a:p>
          <a:p>
            <a:pPr algn="ctr"/>
            <a:r>
              <a:rPr lang="en-IN" sz="2000" b="1" dirty="0"/>
              <a:t>        ↓</a:t>
            </a:r>
          </a:p>
          <a:p>
            <a:pPr algn="ctr"/>
            <a:r>
              <a:rPr lang="en-IN" sz="2000" b="1" dirty="0"/>
              <a:t>Sustainability Report Generation</a:t>
            </a:r>
          </a:p>
        </p:txBody>
      </p:sp>
    </p:spTree>
    <p:extLst>
      <p:ext uri="{BB962C8B-B14F-4D97-AF65-F5344CB8AC3E}">
        <p14:creationId xmlns:p14="http://schemas.microsoft.com/office/powerpoint/2010/main" val="3404010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A1B44B-AD98-288A-973B-DA62BBD64BDA}"/>
              </a:ext>
            </a:extLst>
          </p:cNvPr>
          <p:cNvSpPr txBox="1"/>
          <p:nvPr/>
        </p:nvSpPr>
        <p:spPr>
          <a:xfrm>
            <a:off x="640080" y="320040"/>
            <a:ext cx="6692827" cy="3892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APPLICATION ARCHITECTURE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E2BAA5-002C-2FB1-9894-9D9CBDB9A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3" r="2" b="558"/>
          <a:stretch>
            <a:fillRect/>
          </a:stretch>
        </p:blipFill>
        <p:spPr>
          <a:xfrm>
            <a:off x="7781544" y="479890"/>
            <a:ext cx="4087368" cy="566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131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5CD69-53E7-EAFA-4B96-DEFEF0D1C23C}"/>
              </a:ext>
            </a:extLst>
          </p:cNvPr>
          <p:cNvSpPr txBox="1"/>
          <p:nvPr/>
        </p:nvSpPr>
        <p:spPr>
          <a:xfrm>
            <a:off x="3456809" y="265524"/>
            <a:ext cx="5414907" cy="5539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latin typeface="+mj-lt"/>
                <a:ea typeface="+mj-ea"/>
                <a:cs typeface="+mj-cs"/>
              </a:rPr>
              <a:t>APPLICATION DEMONSTRATION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8C13E0-16A6-5630-5E7C-153C8FD09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96" y="2025758"/>
            <a:ext cx="4546638" cy="36259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BAE698-0C5E-8C27-74B2-E9562FD4E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229" y="3676722"/>
            <a:ext cx="4677983" cy="27249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AFDFCF-C9A0-3811-9853-AFA5D23299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0406" y="940774"/>
            <a:ext cx="5464649" cy="224050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41315EB-67BC-B9A5-6C27-B2C119979EF8}"/>
              </a:ext>
            </a:extLst>
          </p:cNvPr>
          <p:cNvSpPr txBox="1"/>
          <p:nvPr/>
        </p:nvSpPr>
        <p:spPr>
          <a:xfrm>
            <a:off x="963561" y="57730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Waste Image Upload Interface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21E2D7-B83F-7910-0AD1-EDE477C32F18}"/>
              </a:ext>
            </a:extLst>
          </p:cNvPr>
          <p:cNvSpPr txBox="1"/>
          <p:nvPr/>
        </p:nvSpPr>
        <p:spPr>
          <a:xfrm>
            <a:off x="6759009" y="32735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AI Waste Detection &amp; Classification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F4B9A6-4E7E-C12A-B94E-D01810C23447}"/>
              </a:ext>
            </a:extLst>
          </p:cNvPr>
          <p:cNvSpPr txBox="1"/>
          <p:nvPr/>
        </p:nvSpPr>
        <p:spPr>
          <a:xfrm>
            <a:off x="6663813" y="6364659"/>
            <a:ext cx="6425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Analytics Dashboard &amp; Detection History</a:t>
            </a:r>
          </a:p>
        </p:txBody>
      </p:sp>
    </p:spTree>
    <p:extLst>
      <p:ext uri="{BB962C8B-B14F-4D97-AF65-F5344CB8AC3E}">
        <p14:creationId xmlns:p14="http://schemas.microsoft.com/office/powerpoint/2010/main" val="117467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93FC557-9915-5E2F-9DEB-FDD9D002FAFF}"/>
              </a:ext>
            </a:extLst>
          </p:cNvPr>
          <p:cNvSpPr/>
          <p:nvPr/>
        </p:nvSpPr>
        <p:spPr>
          <a:xfrm>
            <a:off x="1145454" y="1143006"/>
            <a:ext cx="3706761" cy="1587909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glow rad="63500">
              <a:schemeClr val="accent3">
                <a:lumMod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♻️ AI Waste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Uses MobileNetV2 deep learning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Identifies waste objects from uploaded images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Provides fast and accurate predictions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32962B-7759-F1E5-B659-57658FD508F9}"/>
              </a:ext>
            </a:extLst>
          </p:cNvPr>
          <p:cNvSpPr/>
          <p:nvPr/>
        </p:nvSpPr>
        <p:spPr>
          <a:xfrm>
            <a:off x="1145454" y="3124202"/>
            <a:ext cx="3706761" cy="1587909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glow rad="63500">
              <a:schemeClr val="accent3">
                <a:lumMod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🗂 Waste Category Mapping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</a:rPr>
              <a:t>Maps detected objects into waste categories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</a:rPr>
              <a:t>Categories include: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</a:rPr>
              <a:t>Plastic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</a:rPr>
              <a:t>Organic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</a:rPr>
              <a:t>E-Waste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EB448D5-E274-839B-7008-06C028D8DAD4}"/>
              </a:ext>
            </a:extLst>
          </p:cNvPr>
          <p:cNvSpPr/>
          <p:nvPr/>
        </p:nvSpPr>
        <p:spPr>
          <a:xfrm>
            <a:off x="7511842" y="1143006"/>
            <a:ext cx="3706761" cy="1587909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glow rad="63500">
              <a:schemeClr val="accent3">
                <a:lumMod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💡 Recycling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Provides disposal instructions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Suggests recycling best practices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Encourages responsible waste management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FAFBD0-BB27-9185-0DDB-2CF173D8B134}"/>
              </a:ext>
            </a:extLst>
          </p:cNvPr>
          <p:cNvSpPr/>
          <p:nvPr/>
        </p:nvSpPr>
        <p:spPr>
          <a:xfrm>
            <a:off x="7511842" y="3124202"/>
            <a:ext cx="3706761" cy="1587909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glow rad="63500">
              <a:schemeClr val="accent3">
                <a:lumMod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📊 Analytics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Tracks waste detection history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Visualizes trends using charts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Supports sustainability monitoring</a:t>
            </a:r>
          </a:p>
          <a:p>
            <a:pPr algn="ctr"/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07F33EA-F8E4-9F1B-7286-2E7DF9EFD419}"/>
              </a:ext>
            </a:extLst>
          </p:cNvPr>
          <p:cNvSpPr/>
          <p:nvPr/>
        </p:nvSpPr>
        <p:spPr>
          <a:xfrm>
            <a:off x="7511842" y="5134893"/>
            <a:ext cx="3706761" cy="1587909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glow rad="63500">
              <a:schemeClr val="accent3">
                <a:lumMod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📄 Sustainability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Generates automated sustainability summaries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Highlights waste classification statistics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Useful for reporting and analysis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912BABC-333F-FE7D-4CD7-A46B57015278}"/>
              </a:ext>
            </a:extLst>
          </p:cNvPr>
          <p:cNvSpPr/>
          <p:nvPr/>
        </p:nvSpPr>
        <p:spPr>
          <a:xfrm>
            <a:off x="1145455" y="5105398"/>
            <a:ext cx="3706761" cy="1587909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glow rad="63500">
              <a:schemeClr val="accent3">
                <a:lumMod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🌍 Environmental Impact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Calculates environmental benefits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Displays CO₂ reduction information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Promotes sustainability awareness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35FB7D-C457-CB26-91D5-BFC8986A0D19}"/>
              </a:ext>
            </a:extLst>
          </p:cNvPr>
          <p:cNvSpPr txBox="1"/>
          <p:nvPr/>
        </p:nvSpPr>
        <p:spPr>
          <a:xfrm>
            <a:off x="4778477" y="161533"/>
            <a:ext cx="26350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KEY FEATURES</a:t>
            </a:r>
          </a:p>
        </p:txBody>
      </p:sp>
    </p:spTree>
    <p:extLst>
      <p:ext uri="{BB962C8B-B14F-4D97-AF65-F5344CB8AC3E}">
        <p14:creationId xmlns:p14="http://schemas.microsoft.com/office/powerpoint/2010/main" val="1321006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8DA821-B661-8915-6778-317580BB7663}"/>
              </a:ext>
            </a:extLst>
          </p:cNvPr>
          <p:cNvSpPr txBox="1"/>
          <p:nvPr/>
        </p:nvSpPr>
        <p:spPr>
          <a:xfrm>
            <a:off x="630936" y="502920"/>
            <a:ext cx="341985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&amp; OUTPUT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D3BC49-1407-85E6-457A-2675F062DDAD}"/>
              </a:ext>
            </a:extLst>
          </p:cNvPr>
          <p:cNvSpPr txBox="1"/>
          <p:nvPr/>
        </p:nvSpPr>
        <p:spPr>
          <a:xfrm>
            <a:off x="4654295" y="502920"/>
            <a:ext cx="689457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✅ Waste classification using MobileNetV2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✅ Automatic waste category mapping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✅ Environmental impact calculation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✅ Recycling recommendation generation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✅ Detection history tracking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✅ Sustainability report generation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F7CEDB-8036-FFA8-E0E4-AEDEA39F1B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348253"/>
              </p:ext>
            </p:extLst>
          </p:nvPr>
        </p:nvGraphicFramePr>
        <p:xfrm>
          <a:off x="706195" y="2290936"/>
          <a:ext cx="10767419" cy="3959354"/>
        </p:xfrm>
        <a:graphic>
          <a:graphicData uri="http://schemas.openxmlformats.org/drawingml/2006/table">
            <a:tbl>
              <a:tblPr firstRow="1" bandRow="1"/>
              <a:tblGrid>
                <a:gridCol w="4659014">
                  <a:extLst>
                    <a:ext uri="{9D8B030D-6E8A-4147-A177-3AD203B41FA5}">
                      <a16:colId xmlns:a16="http://schemas.microsoft.com/office/drawing/2014/main" val="1891668850"/>
                    </a:ext>
                  </a:extLst>
                </a:gridCol>
                <a:gridCol w="6108405">
                  <a:extLst>
                    <a:ext uri="{9D8B030D-6E8A-4147-A177-3AD203B41FA5}">
                      <a16:colId xmlns:a16="http://schemas.microsoft.com/office/drawing/2014/main" val="3754304887"/>
                    </a:ext>
                  </a:extLst>
                </a:gridCol>
              </a:tblGrid>
              <a:tr h="5656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 b="1"/>
                        <a:t>METRIC</a:t>
                      </a:r>
                    </a:p>
                  </a:txBody>
                  <a:tcPr marL="128550" marR="128550" marT="64275" marB="642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 b="1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 marL="128550" marR="128550" marT="64275" marB="642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15624"/>
                  </a:ext>
                </a:extLst>
              </a:tr>
              <a:tr h="565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AI Model</a:t>
                      </a:r>
                    </a:p>
                  </a:txBody>
                  <a:tcPr marL="128550" marR="128550" marT="64275" marB="642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dirty="0"/>
                        <a:t>MobileNetV2</a:t>
                      </a:r>
                    </a:p>
                  </a:txBody>
                  <a:tcPr marL="128550" marR="128550" marT="64275" marB="642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006324"/>
                  </a:ext>
                </a:extLst>
              </a:tr>
              <a:tr h="565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Waste Categories</a:t>
                      </a:r>
                    </a:p>
                  </a:txBody>
                  <a:tcPr marL="128550" marR="128550" marT="64275" marB="642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Plastic, Organic, E-Waste</a:t>
                      </a:r>
                    </a:p>
                  </a:txBody>
                  <a:tcPr marL="128550" marR="128550" marT="64275" marB="642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697341"/>
                  </a:ext>
                </a:extLst>
              </a:tr>
              <a:tr h="565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Prediction Confidence </a:t>
                      </a:r>
                      <a:endParaRPr lang="en-IN" sz="2500" dirty="0"/>
                    </a:p>
                  </a:txBody>
                  <a:tcPr marL="128550" marR="128550" marT="64275" marB="642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~92% Confidence</a:t>
                      </a:r>
                    </a:p>
                  </a:txBody>
                  <a:tcPr marL="128550" marR="128550" marT="64275" marB="642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703642"/>
                  </a:ext>
                </a:extLst>
              </a:tr>
              <a:tr h="565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Sustainability Score</a:t>
                      </a:r>
                    </a:p>
                  </a:txBody>
                  <a:tcPr marL="128550" marR="128550" marT="64275" marB="642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85/100</a:t>
                      </a:r>
                    </a:p>
                  </a:txBody>
                  <a:tcPr marL="128550" marR="128550" marT="64275" marB="642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734907"/>
                  </a:ext>
                </a:extLst>
              </a:tr>
              <a:tr h="565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Sample CO₂ Reduction</a:t>
                      </a:r>
                      <a:endParaRPr lang="en-IN" sz="2500" dirty="0"/>
                    </a:p>
                  </a:txBody>
                  <a:tcPr marL="128550" marR="128550" marT="64275" marB="642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0.5 kg</a:t>
                      </a:r>
                    </a:p>
                  </a:txBody>
                  <a:tcPr marL="128550" marR="128550" marT="64275" marB="642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017604"/>
                  </a:ext>
                </a:extLst>
              </a:tr>
              <a:tr h="565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/>
                        <a:t>Data Storage</a:t>
                      </a:r>
                    </a:p>
                  </a:txBody>
                  <a:tcPr marL="128550" marR="128550" marT="64275" marB="642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dirty="0"/>
                        <a:t>CSV History</a:t>
                      </a:r>
                    </a:p>
                  </a:txBody>
                  <a:tcPr marL="128550" marR="128550" marT="64275" marB="642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617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6557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B39C13-039F-7927-8A5E-72EBDC5F4B69}"/>
              </a:ext>
            </a:extLst>
          </p:cNvPr>
          <p:cNvSpPr txBox="1"/>
          <p:nvPr/>
        </p:nvSpPr>
        <p:spPr>
          <a:xfrm>
            <a:off x="3048000" y="25778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RESPONSIBLE AI CONSIDERATIONS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A00F16-7142-446A-204B-28C4F770C2AC}"/>
              </a:ext>
            </a:extLst>
          </p:cNvPr>
          <p:cNvSpPr txBox="1"/>
          <p:nvPr/>
        </p:nvSpPr>
        <p:spPr>
          <a:xfrm>
            <a:off x="2079522" y="1905506"/>
            <a:ext cx="803295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b="1" dirty="0"/>
              <a:t>Fairness:</a:t>
            </a:r>
            <a:r>
              <a:rPr lang="en-IN" sz="2400" dirty="0"/>
              <a:t> Model is designed to classify waste categories without bias.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b="1" dirty="0"/>
              <a:t>Transparency:</a:t>
            </a:r>
            <a:r>
              <a:rPr lang="en-IN" sz="2400" dirty="0"/>
              <a:t> Users can see detected objects and waste category predictions.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b="1" dirty="0"/>
              <a:t>Ethics:</a:t>
            </a:r>
            <a:r>
              <a:rPr lang="en-IN" sz="2400" dirty="0"/>
              <a:t> Recommendations promote environmentally responsible disposal practices.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b="1" dirty="0"/>
              <a:t>Privacy:</a:t>
            </a:r>
            <a:r>
              <a:rPr lang="en-IN" sz="2400" dirty="0"/>
              <a:t> Uploaded images are used only for classification and are not linked to personal data.</a:t>
            </a:r>
          </a:p>
        </p:txBody>
      </p:sp>
    </p:spTree>
    <p:extLst>
      <p:ext uri="{BB962C8B-B14F-4D97-AF65-F5344CB8AC3E}">
        <p14:creationId xmlns:p14="http://schemas.microsoft.com/office/powerpoint/2010/main" val="1786112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A8397B-7938-7A44-D605-5F42392C0366}"/>
              </a:ext>
            </a:extLst>
          </p:cNvPr>
          <p:cNvSpPr txBox="1"/>
          <p:nvPr/>
        </p:nvSpPr>
        <p:spPr>
          <a:xfrm>
            <a:off x="4178709" y="208624"/>
            <a:ext cx="38345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FUTURE ENHANCEMENTS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AF3399-0A02-CB25-22DA-B82A459848D3}"/>
              </a:ext>
            </a:extLst>
          </p:cNvPr>
          <p:cNvSpPr txBox="1"/>
          <p:nvPr/>
        </p:nvSpPr>
        <p:spPr>
          <a:xfrm>
            <a:off x="2526889" y="1101029"/>
            <a:ext cx="7138219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📱 Mobile 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Develop Android/iOS version for wider accessibility.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☁️ Cloud Database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Replace CSV storage with cloud-based databases.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🤖 Advanced AI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Improve classification accuracy using larger datasets.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📷 Real-Time Camera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Enable live waste recognition through device cameras.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🗺 Smart Recycling Center Locator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Show nearby recycling and disposal centers.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📄 PDF Report Generation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Generate downloadable sustainability reports.</a:t>
            </a:r>
          </a:p>
        </p:txBody>
      </p:sp>
    </p:spTree>
    <p:extLst>
      <p:ext uri="{BB962C8B-B14F-4D97-AF65-F5344CB8AC3E}">
        <p14:creationId xmlns:p14="http://schemas.microsoft.com/office/powerpoint/2010/main" val="1526399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02A5D1-D7AC-8563-70DB-230638B0EF1C}"/>
              </a:ext>
            </a:extLst>
          </p:cNvPr>
          <p:cNvSpPr txBox="1"/>
          <p:nvPr/>
        </p:nvSpPr>
        <p:spPr>
          <a:xfrm>
            <a:off x="4970206" y="267618"/>
            <a:ext cx="22515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57522D-43FD-2220-6B9D-E9C39B8D2CBA}"/>
              </a:ext>
            </a:extLst>
          </p:cNvPr>
          <p:cNvSpPr txBox="1"/>
          <p:nvPr/>
        </p:nvSpPr>
        <p:spPr>
          <a:xfrm>
            <a:off x="2172928" y="1054704"/>
            <a:ext cx="784614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Developed an AI-powered waste classification system using MobileNetV2.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Automated waste category mapping and recycling recommendations.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Provided environmental impact analysis and sustainability insights.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Implemented analytics dashboard and detection history tracking.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Generated sustainability reports for monitoring waste management activities.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Contributes to Sustainable Development Goals (SDG 11, SDG 12, and SDG 13).</a:t>
            </a:r>
          </a:p>
        </p:txBody>
      </p:sp>
    </p:spTree>
    <p:extLst>
      <p:ext uri="{BB962C8B-B14F-4D97-AF65-F5344CB8AC3E}">
        <p14:creationId xmlns:p14="http://schemas.microsoft.com/office/powerpoint/2010/main" val="4287318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BD70F6-8E3C-82E8-3475-067280045A13}"/>
              </a:ext>
            </a:extLst>
          </p:cNvPr>
          <p:cNvSpPr txBox="1"/>
          <p:nvPr/>
        </p:nvSpPr>
        <p:spPr>
          <a:xfrm>
            <a:off x="4050891" y="2273398"/>
            <a:ext cx="409021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/>
              <a:t>THANK YOU </a:t>
            </a:r>
            <a:r>
              <a:rPr lang="en-IN" sz="4400"/>
              <a:t>♻️</a:t>
            </a:r>
            <a:endParaRPr lang="en-IN" sz="4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400C5-8BA8-EB89-60C4-C45E6AD0E077}"/>
              </a:ext>
            </a:extLst>
          </p:cNvPr>
          <p:cNvSpPr txBox="1"/>
          <p:nvPr/>
        </p:nvSpPr>
        <p:spPr>
          <a:xfrm>
            <a:off x="1002891" y="4628902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Prepared By:</a:t>
            </a:r>
            <a:br>
              <a:rPr lang="en-IN" b="1" dirty="0"/>
            </a:br>
            <a:r>
              <a:rPr lang="en-IN" b="1" dirty="0"/>
              <a:t>Jeeva A</a:t>
            </a:r>
            <a:br>
              <a:rPr lang="en-IN" b="1" dirty="0"/>
            </a:br>
            <a:r>
              <a:rPr lang="en-IN" b="1" dirty="0"/>
              <a:t>github.com/Jeeva-0805/RecycleSense-AI</a:t>
            </a:r>
            <a:br>
              <a:rPr lang="en-IN" b="1" dirty="0"/>
            </a:br>
            <a:r>
              <a:rPr lang="en-IN" b="1" dirty="0"/>
              <a:t>B.E. Computer Science And Engineering</a:t>
            </a:r>
            <a:br>
              <a:rPr lang="en-IN" b="1" dirty="0"/>
            </a:br>
            <a:r>
              <a:rPr lang="en-IN" b="1" dirty="0"/>
              <a:t>Easwari Engineering College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19295A-D1D7-6312-6035-451179EB43FC}"/>
              </a:ext>
            </a:extLst>
          </p:cNvPr>
          <p:cNvSpPr txBox="1"/>
          <p:nvPr/>
        </p:nvSpPr>
        <p:spPr>
          <a:xfrm>
            <a:off x="10451690" y="5768090"/>
            <a:ext cx="12131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/>
              <a:t>June 2026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86271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709</Words>
  <Application>Microsoft Office PowerPoint</Application>
  <PresentationFormat>Widescreen</PresentationFormat>
  <Paragraphs>170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Jeeva A</dc:creator>
  <cp:lastModifiedBy>Jeeva A</cp:lastModifiedBy>
  <cp:revision>1</cp:revision>
  <dcterms:created xsi:type="dcterms:W3CDTF">2026-06-23T12:46:32Z</dcterms:created>
  <dcterms:modified xsi:type="dcterms:W3CDTF">2026-06-23T14:01:44Z</dcterms:modified>
</cp:coreProperties>
</file>